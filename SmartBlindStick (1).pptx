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5612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PROJECT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BLIND STICK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ARDUINO MEGA 2560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2240280"/>
            <a:ext cx="3200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377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SMART BLIND STICK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743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Sanu Kumar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3035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Sarah Fathima Shaik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3284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Arnav 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6210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Archana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4663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ISE  |  CMRIT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457200"/>
            <a:ext cx="2743200" cy="2743200"/>
          </a:xfrm>
          <a:prstGeom prst="ellipse">
            <a:avLst/>
          </a:prstGeom>
          <a:solidFill>
            <a:srgbClr val="0891B2">
              <a:alpha val="1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005840"/>
            <a:ext cx="1645920" cy="164592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188720"/>
            <a:ext cx="1097280" cy="10972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532120" y="3383280"/>
            <a:ext cx="155448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272" y="3493008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971032" y="342900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971032" y="369417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Detection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7223760" y="3383280"/>
            <a:ext cx="155448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3493008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662672" y="342900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Mega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662672" y="369417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5532120" y="4389120"/>
            <a:ext cx="155448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5272" y="4498848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971032" y="443484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Alert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971032" y="470001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Warning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6400800" y="4389120"/>
            <a:ext cx="1554480" cy="59436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400800" y="44165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68680" y="2560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73152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716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1298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Smart Blind Stick?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8912" y="18288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electronic mobility aid designed to assist visually impaired individuals in navigating their environment safely.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18872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18872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3716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67528" y="1298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Purpose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73752" y="18288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low-cost, portable obstacle detection system that enhances safety and independence for blind users.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74320" y="301752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3017520"/>
            <a:ext cx="73152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2004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2688" y="31272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38912" y="36576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285 million people worldwide are visually impaired. A smart stick can drastically reduce accidents and improve mobility.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09160" y="301752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09160" y="3017520"/>
            <a:ext cx="73152" cy="1600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20040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67528" y="31272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873752" y="36576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Arduino Mega 2560 microcontroller and HC-SR04 ultrasonic sensor for real-time distance measurement.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50292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98755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Detecting Obstacles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417320" y="129844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impaired individuals cannot detect objects at waist or head level using traditional sticks.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1920240"/>
            <a:ext cx="859536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1920240"/>
            <a:ext cx="50292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19202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031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19933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Stick Limitations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417320" y="230428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canes only detect ground-level obstacles through physical contact — no early warning system.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74320" y="2926080"/>
            <a:ext cx="859536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74320" y="2926080"/>
            <a:ext cx="50292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4320" y="29260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10896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29992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Safety Alerts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417320" y="331012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feedback mechanism to warn users before collision with stationary or moving obstacles.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74320" y="3931920"/>
            <a:ext cx="8595360" cy="822960"/>
          </a:xfrm>
          <a:prstGeom prst="rect">
            <a:avLst/>
          </a:prstGeom>
          <a:solidFill>
            <a:srgbClr val="1B2A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74320" y="3931920"/>
            <a:ext cx="50292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74320" y="39319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11480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17320" y="400507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Challenges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1417320" y="431596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terrain, unexpected barriers, and unfamiliar environments pose constant safety risks.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42062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2801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307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Detection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" y="1856232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nearby obstacles using HC-SR04 ultrasonic sensor within a range of 2–400 cm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14300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143000"/>
            <a:ext cx="42062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28016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307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00600" y="1856232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instant buzzer warnings — faster beeps as the obstacle gets closer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28600" y="297180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28600" y="2971800"/>
            <a:ext cx="420624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00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10896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" y="31363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Navigation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20040" y="3685032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overall safety, confidence, and independent navigation for visually impaired users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09160" y="297180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2971800"/>
            <a:ext cx="420624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0060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3108960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94960" y="31363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&amp; Portable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800600" y="3685032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low-cost, lightweight, battery-operated solution accessible to everyone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USED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697480" cy="1783080"/>
          </a:xfrm>
          <a:prstGeom prst="rect">
            <a:avLst/>
          </a:prstGeom>
          <a:solidFill>
            <a:srgbClr val="1B2A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2697480" cy="594360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058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98755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Mega 2560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1752" y="157276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microcontroller — processes sensor data and controls outputs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72968" y="914400"/>
            <a:ext cx="2697480" cy="1783080"/>
          </a:xfrm>
          <a:prstGeom prst="rect">
            <a:avLst/>
          </a:prstGeom>
          <a:solidFill>
            <a:srgbClr val="1B2A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72968" y="914400"/>
            <a:ext cx="2697480" cy="59436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0058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9896" y="98755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Sensor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246120" y="157276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 — measures distance to obstacles (2–400 cm)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17336" y="914400"/>
            <a:ext cx="2697480" cy="1783080"/>
          </a:xfrm>
          <a:prstGeom prst="rect">
            <a:avLst/>
          </a:prstGeom>
          <a:solidFill>
            <a:srgbClr val="1B2A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17336" y="914400"/>
            <a:ext cx="2697480" cy="59436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10058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84264" y="98755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Module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190488" y="157276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audible alerts — beep frequency increases near obstacles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554480" y="2926080"/>
            <a:ext cx="2697480" cy="1783080"/>
          </a:xfrm>
          <a:prstGeom prst="rect">
            <a:avLst/>
          </a:prstGeom>
          <a:solidFill>
            <a:srgbClr val="1B2A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554480" y="2926080"/>
            <a:ext cx="2697480" cy="594360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20" y="301752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121408" y="299923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Bank / Battery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627632" y="358444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9V battery or USB power bank for field operation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498848" y="2926080"/>
            <a:ext cx="2697480" cy="1783080"/>
          </a:xfrm>
          <a:prstGeom prst="rect">
            <a:avLst/>
          </a:prstGeom>
          <a:solidFill>
            <a:srgbClr val="1B2A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498848" y="2926080"/>
            <a:ext cx="2697480" cy="594360"/>
          </a:xfrm>
          <a:prstGeom prst="rect">
            <a:avLst/>
          </a:prstGeom>
          <a:solidFill>
            <a:srgbClr val="F43F5E">
              <a:alpha val="85000"/>
            </a:srgbClr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0288" y="301752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65776" y="299923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 Wires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0" y="358444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all components on the breadboard / PCB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463040"/>
            <a:ext cx="1371600" cy="822960"/>
          </a:xfrm>
          <a:prstGeom prst="rect">
            <a:avLst/>
          </a:prstGeom>
          <a:solidFill>
            <a:srgbClr val="0891B2">
              <a:alpha val="80000"/>
            </a:srgbClr>
          </a:solidFill>
          <a:ln w="19050">
            <a:solidFill>
              <a:srgbClr val="0891B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6002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5087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28600" y="196596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Powers On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45920" y="1847088"/>
            <a:ext cx="25603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37944" y="17373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920240" y="1463040"/>
            <a:ext cx="1371600" cy="822960"/>
          </a:xfrm>
          <a:prstGeom prst="rect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392" y="1600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23160" y="15087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920240" y="196596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Pulse Sent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337560" y="1847088"/>
            <a:ext cx="25603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29584" y="17373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611880" y="1463040"/>
            <a:ext cx="1371600" cy="822960"/>
          </a:xfrm>
          <a:prstGeom prst="rect">
            <a:avLst/>
          </a:prstGeom>
          <a:solidFill>
            <a:srgbClr val="1B2A4A">
              <a:alpha val="80000"/>
            </a:srgbClr>
          </a:solidFill>
          <a:ln w="19050">
            <a:solidFill>
              <a:srgbClr val="1B2A4A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032" y="16002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114800" y="15087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3611880" y="196596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Signal Detected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5029200" y="1847088"/>
            <a:ext cx="25603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221224" y="17373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303520" y="1463040"/>
            <a:ext cx="1371600" cy="822960"/>
          </a:xfrm>
          <a:prstGeom prst="rect">
            <a:avLst/>
          </a:prstGeom>
          <a:solidFill>
            <a:srgbClr val="0891B2">
              <a:alpha val="80000"/>
            </a:srgbClr>
          </a:solidFill>
          <a:ln w="19050">
            <a:solidFill>
              <a:srgbClr val="0891B2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672" y="160020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06440" y="15087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5303520" y="196596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Computed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Arduino Mega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6720840" y="1847088"/>
            <a:ext cx="256032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912864" y="17373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995160" y="1463040"/>
            <a:ext cx="1371600" cy="822960"/>
          </a:xfrm>
          <a:prstGeom prst="rect">
            <a:avLst/>
          </a:prstGeom>
          <a:solidFill>
            <a:srgbClr val="EF4444">
              <a:alpha val="90000"/>
            </a:srgbClr>
          </a:solidFill>
          <a:ln w="19050">
            <a:solidFill>
              <a:srgbClr val="EF4444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8312" y="160020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98080" y="15087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6995160" y="196596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Activated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(Faster = Closer)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228600" y="2606040"/>
            <a:ext cx="8686800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228600" y="260604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2761488"/>
            <a:ext cx="411480" cy="4114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14400" y="2651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Alert Logic: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914400" y="299923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100 cm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No Alert     |     </a:t>
            </a: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 cm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Slow Beep     |     </a:t>
            </a: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cm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Fast Beep (Danger!)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228600" y="3703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Distance (cm) = (Time × Speed of Sound) ÷ 2  |  Speed of Sound = 34300 cm/s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228600" y="4160520"/>
            <a:ext cx="86868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320040" y="42519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FLOW:  Sensor Emits Wave  →  Obstacle Reflects  →  Sensor Receives Echo  →  Arduino Calculates Distance  →  Buzzer Alerts User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914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ADVANTAGES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70992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5819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Detection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60120" y="1892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74320" y="256032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56032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76148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26334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60120" y="29443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50ms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274320" y="361188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361188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813048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36850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Range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960120" y="39959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400 cm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572000" y="1051560"/>
            <a:ext cx="36576" cy="38404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8006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800600" y="1481328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64608" y="1618488"/>
            <a:ext cx="475488" cy="475488"/>
          </a:xfrm>
          <a:prstGeom prst="ellipse">
            <a:avLst/>
          </a:prstGeom>
          <a:solidFill>
            <a:srgbClr val="F59E0B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1636776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13248" y="1536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13248" y="18470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components — under ₹1500 total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800600" y="237744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864608" y="2514600"/>
            <a:ext cx="475488" cy="475488"/>
          </a:xfrm>
          <a:prstGeom prst="ellipse">
            <a:avLst/>
          </a:prstGeom>
          <a:solidFill>
            <a:srgbClr val="0891B2">
              <a:alpha val="80000"/>
            </a:srgbClr>
          </a:solidFill>
          <a:ln w="6350">
            <a:solidFill>
              <a:srgbClr val="0891B2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1184" y="2532888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13248" y="2432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413248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required — plug-and-play operation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4800600" y="3273552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864608" y="3410712"/>
            <a:ext cx="475488" cy="475488"/>
          </a:xfrm>
          <a:prstGeom prst="ellipse">
            <a:avLst/>
          </a:prstGeom>
          <a:solidFill>
            <a:srgbClr val="10B981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1184" y="3429000"/>
            <a:ext cx="402336" cy="40233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413248" y="33284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Mobility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413248" y="36393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confidence for independent navigation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4800600" y="4169664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4864608" y="4306824"/>
            <a:ext cx="475488" cy="475488"/>
          </a:xfrm>
          <a:prstGeom prst="ellipse">
            <a:avLst/>
          </a:prstGeom>
          <a:solidFill>
            <a:srgbClr val="8B5CF6">
              <a:alpha val="80000"/>
            </a:srgbClr>
          </a:solidFill>
          <a:ln w="6350">
            <a:solidFill>
              <a:srgbClr val="8B5CF6"/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1184" y="4325112"/>
            <a:ext cx="402336" cy="40233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413248" y="4224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Efficient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5413248" y="453542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small battery — long operational life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28600" y="868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41732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detects obstacles in real-time using ultrasonic sensing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26771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222199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effective auditory alerts to prevent collisions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072384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5800" y="3026664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an affordable, portable solution for visually impaired users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877056"/>
            <a:ext cx="347472" cy="3474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5800" y="383133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practical application of embedded systems in assistive technology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228600" y="4617720"/>
            <a:ext cx="3749040" cy="384048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228600" y="46177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4343400" y="182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4343400" y="777240"/>
            <a:ext cx="4526280" cy="914400"/>
          </a:xfrm>
          <a:prstGeom prst="rect">
            <a:avLst/>
          </a:prstGeom>
          <a:solidFill>
            <a:srgbClr val="1B2A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407408" y="941832"/>
            <a:ext cx="530352" cy="530352"/>
          </a:xfrm>
          <a:prstGeom prst="ellipse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96012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047488" y="868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Integration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047488" y="12161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 tracking and navigation guidance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4343400" y="1837944"/>
            <a:ext cx="4526280" cy="914400"/>
          </a:xfrm>
          <a:prstGeom prst="rect">
            <a:avLst/>
          </a:prstGeom>
          <a:solidFill>
            <a:srgbClr val="1B2A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4407408" y="2002536"/>
            <a:ext cx="530352" cy="530352"/>
          </a:xfrm>
          <a:prstGeom prst="ellipse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2020824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047488" y="19293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Assistance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5047488" y="22768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feedback for obstacle identification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4343400" y="2898648"/>
            <a:ext cx="4526280" cy="914400"/>
          </a:xfrm>
          <a:prstGeom prst="rect">
            <a:avLst/>
          </a:prstGeom>
          <a:solidFill>
            <a:srgbClr val="1B2A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407408" y="3063240"/>
            <a:ext cx="530352" cy="530352"/>
          </a:xfrm>
          <a:prstGeom prst="ellipse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4" y="3081528"/>
            <a:ext cx="457200" cy="4572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047488" y="2990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Feedback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047488" y="3337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 motor alerts for silent environments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4343400" y="3959352"/>
            <a:ext cx="4526280" cy="914400"/>
          </a:xfrm>
          <a:prstGeom prst="rect">
            <a:avLst/>
          </a:prstGeom>
          <a:solidFill>
            <a:srgbClr val="1B2A4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4407408" y="4123944"/>
            <a:ext cx="530352" cy="530352"/>
          </a:xfrm>
          <a:prstGeom prst="ellipse">
            <a:avLst/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3984" y="4142232"/>
            <a:ext cx="457200" cy="4572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047488" y="4050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Object Recognition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5047488" y="43982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ML model to identify and classify obstacles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</Words>
  <Application>Microsoft Office PowerPoint</Application>
  <PresentationFormat>On-screen Show (16:9)</PresentationFormat>
  <Paragraphs>130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Sanu Kumar</cp:lastModifiedBy>
  <cp:revision>1</cp:revision>
  <dcterms:created xsi:type="dcterms:W3CDTF">2026-05-23T03:45:55Z</dcterms:created>
  <dcterms:modified xsi:type="dcterms:W3CDTF">2026-05-23T03:48:31Z</dcterms:modified>
</cp:coreProperties>
</file>